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BDB-AD46-AC47-BEA67BB7A3E9}"/>
              </c:ext>
            </c:extLst>
          </c:dPt>
          <c:dPt>
            <c:idx val="1"/>
            <c:invertIfNegative val="0"/>
            <c:bubble3D val="0"/>
            <c:spPr>
              <a:solidFill>
                <a:srgbClr val="1E2D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BDB-AD46-AC47-BEA67BB7A3E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Late (1)</c:v>
                </c:pt>
                <c:pt idx="1">
                  <c:v>On Time (0)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98977</c:v>
                </c:pt>
                <c:pt idx="1">
                  <c:v>81542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BDB-AD46-AC47-BEA67BB7A3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Days for Shipment (Scheduled)</c:v>
                </c:pt>
                <c:pt idx="1">
                  <c:v>Days for Shipping (Real)</c:v>
                </c:pt>
                <c:pt idx="2">
                  <c:v>Order Zipcode</c:v>
                </c:pt>
                <c:pt idx="3">
                  <c:v>Order Item Discount Rate</c:v>
                </c:pt>
                <c:pt idx="4">
                  <c:v>Order Item Quantity</c:v>
                </c:pt>
                <c:pt idx="5">
                  <c:v>Sales</c:v>
                </c:pt>
                <c:pt idx="6">
                  <c:v>Benefit per Order</c:v>
                </c:pt>
                <c:pt idx="7">
                  <c:v>Order Item Total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-0.36899999999999999</c:v>
                </c:pt>
                <c:pt idx="1">
                  <c:v>0.40100000000000002</c:v>
                </c:pt>
                <c:pt idx="2">
                  <c:v>-1.4E-2</c:v>
                </c:pt>
                <c:pt idx="3">
                  <c:v>4.0000000000000002E-4</c:v>
                </c:pt>
                <c:pt idx="4">
                  <c:v>-1E-4</c:v>
                </c:pt>
                <c:pt idx="5">
                  <c:v>-3.5999999999999999E-3</c:v>
                </c:pt>
                <c:pt idx="6">
                  <c:v>-3.7000000000000002E-3</c:v>
                </c:pt>
                <c:pt idx="7">
                  <c:v>-3.8E-3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DB-4B44-AEC8-B1E209585E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Late (1)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Standard Class</c:v>
                </c:pt>
                <c:pt idx="1">
                  <c:v>Second Class</c:v>
                </c:pt>
                <c:pt idx="2">
                  <c:v>First Class</c:v>
                </c:pt>
                <c:pt idx="3">
                  <c:v>Same Day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61.93</c:v>
                </c:pt>
                <c:pt idx="1">
                  <c:v>95.32</c:v>
                </c:pt>
                <c:pt idx="2">
                  <c:v>45.74</c:v>
                </c:pt>
                <c:pt idx="3">
                  <c:v>38.07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60-A243-9785-4C34133533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On Time (0)</c:v>
                </c:pt>
              </c:strCache>
            </c:strRef>
          </c:tx>
          <c:spPr>
            <a:solidFill>
              <a:srgbClr val="E8EEF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Standard Class</c:v>
                </c:pt>
                <c:pt idx="1">
                  <c:v>Second Class</c:v>
                </c:pt>
                <c:pt idx="2">
                  <c:v>First Class</c:v>
                </c:pt>
                <c:pt idx="3">
                  <c:v>Same Day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38.07</c:v>
                </c:pt>
                <c:pt idx="1">
                  <c:v>4.68</c:v>
                </c:pt>
                <c:pt idx="2">
                  <c:v>54.26</c:v>
                </c:pt>
                <c:pt idx="3">
                  <c:v>61.93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60-A243-9785-4C34133533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1BD-054B-882C-3042DD77DBA7}"/>
              </c:ext>
            </c:extLst>
          </c:dPt>
          <c:dPt>
            <c:idx val="1"/>
            <c:invertIfNegative val="0"/>
            <c:bubble3D val="0"/>
            <c:spPr>
              <a:solidFill>
                <a:srgbClr val="1E2D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1BD-054B-882C-3042DD77DBA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1BD-054B-882C-3042DD77DBA7}"/>
              </c:ext>
            </c:extLst>
          </c:dPt>
          <c:dPt>
            <c:idx val="3"/>
            <c:invertIfNegative val="0"/>
            <c:bubble3D val="0"/>
            <c:spPr>
              <a:solidFill>
                <a:srgbClr val="1E2D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1BD-054B-882C-3042DD77DBA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B1BD-054B-882C-3042DD77DBA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 Score</c:v>
                </c:pt>
                <c:pt idx="4">
                  <c:v>ROC-AUC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69.2</c:v>
                </c:pt>
                <c:pt idx="1">
                  <c:v>79.8</c:v>
                </c:pt>
                <c:pt idx="2">
                  <c:v>58.8</c:v>
                </c:pt>
                <c:pt idx="3">
                  <c:v>67.7</c:v>
                </c:pt>
                <c:pt idx="4">
                  <c:v>72.599999999999994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1BD-054B-882C-3042DD77DB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Score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Customer Segment_Corporate</c:v>
                </c:pt>
                <c:pt idx="1">
                  <c:v>Customer Segment_Home Office</c:v>
                </c:pt>
                <c:pt idx="2">
                  <c:v>Order Region_Western Europe</c:v>
                </c:pt>
                <c:pt idx="3">
                  <c:v>Order Country_Cuba</c:v>
                </c:pt>
                <c:pt idx="4">
                  <c:v>Sales</c:v>
                </c:pt>
                <c:pt idx="5">
                  <c:v>Product Price</c:v>
                </c:pt>
                <c:pt idx="6">
                  <c:v>Order Item Discount Rate</c:v>
                </c:pt>
                <c:pt idx="7">
                  <c:v>Order Item Total</c:v>
                </c:pt>
                <c:pt idx="8">
                  <c:v>Benefit per Order</c:v>
                </c:pt>
                <c:pt idx="9">
                  <c:v>Order Item Discount</c:v>
                </c:pt>
                <c:pt idx="10">
                  <c:v>Order Profit Per Order</c:v>
                </c:pt>
                <c:pt idx="11">
                  <c:v>Type_PAYMENT</c:v>
                </c:pt>
                <c:pt idx="12">
                  <c:v>Type_DEBIT</c:v>
                </c:pt>
                <c:pt idx="13">
                  <c:v>Shipping Mode_Same Day</c:v>
                </c:pt>
                <c:pt idx="14">
                  <c:v>Type_TRANSFER</c:v>
                </c:pt>
                <c:pt idx="15">
                  <c:v>Shipping Mode_Second Class</c:v>
                </c:pt>
                <c:pt idx="16">
                  <c:v>Days for Shipment (Scheduled)</c:v>
                </c:pt>
                <c:pt idx="17">
                  <c:v>Shipping Mode_Standard Class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8.5999999999999998E-4</c:v>
                </c:pt>
                <c:pt idx="1">
                  <c:v>1.15E-3</c:v>
                </c:pt>
                <c:pt idx="2">
                  <c:v>1.2800000000000001E-3</c:v>
                </c:pt>
                <c:pt idx="3">
                  <c:v>1.5100000000000001E-3</c:v>
                </c:pt>
                <c:pt idx="4">
                  <c:v>1.92E-3</c:v>
                </c:pt>
                <c:pt idx="5">
                  <c:v>2.0100000000000001E-3</c:v>
                </c:pt>
                <c:pt idx="6">
                  <c:v>2.5100000000000001E-3</c:v>
                </c:pt>
                <c:pt idx="7">
                  <c:v>3.7200000000000002E-3</c:v>
                </c:pt>
                <c:pt idx="8">
                  <c:v>3.9699999999999996E-3</c:v>
                </c:pt>
                <c:pt idx="9">
                  <c:v>4.1700000000000001E-3</c:v>
                </c:pt>
                <c:pt idx="10">
                  <c:v>4.5599999999999998E-3</c:v>
                </c:pt>
                <c:pt idx="11">
                  <c:v>1.055E-2</c:v>
                </c:pt>
                <c:pt idx="12">
                  <c:v>1.448E-2</c:v>
                </c:pt>
                <c:pt idx="13">
                  <c:v>1.77E-2</c:v>
                </c:pt>
                <c:pt idx="14">
                  <c:v>4.5999999999999999E-2</c:v>
                </c:pt>
                <c:pt idx="15">
                  <c:v>0.22478999999999999</c:v>
                </c:pt>
                <c:pt idx="16">
                  <c:v>0.28339999999999999</c:v>
                </c:pt>
                <c:pt idx="17">
                  <c:v>0.34138000000000002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2D-0345-AD9A-B32E4EFE66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AB6-054E-A375-DE4D64DBE3AC}"/>
              </c:ext>
            </c:extLst>
          </c:dPt>
          <c:dPt>
            <c:idx val="1"/>
            <c:invertIfNegative val="0"/>
            <c:bubble3D val="0"/>
            <c:spPr>
              <a:solidFill>
                <a:srgbClr val="1E2D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AB6-054E-A375-DE4D64DBE3AC}"/>
              </c:ext>
            </c:extLst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AB6-054E-A375-DE4D64DBE3A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33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Extra Trees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74.2</c:v>
                </c:pt>
                <c:pt idx="1">
                  <c:v>73.900000000000006</c:v>
                </c:pt>
                <c:pt idx="2">
                  <c:v>73.2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B6-054E-A375-DE4D64DBE3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6"/>
          <c:min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8760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6459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 of San Diego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0" y="1234440"/>
            <a:ext cx="4023360" cy="438912"/>
          </a:xfrm>
          <a:prstGeom prst="roundRect">
            <a:avLst>
              <a:gd name="adj" fmla="val 12500"/>
            </a:avLst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0" y="12344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AAI-510 | Machine Learning – Fundamentals &amp; Applications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Late Delivery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Prediction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2735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AA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 Smart Supply Chain Dataset  |  Machine Learning Classification Study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3749040"/>
            <a:ext cx="3657600" cy="274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1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3913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A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41696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Ankur Bist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388620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1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46120" y="3913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A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46120" y="41696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886200"/>
            <a:ext cx="2651760" cy="77724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391612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A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325985" y="4050792"/>
            <a:ext cx="2452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Dhrub Satyam</a:t>
            </a:r>
            <a:r>
              <a:rPr lang="en-US" sz="1000" dirty="0"/>
              <a:t>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&amp; 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David Asirvatharaj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097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Objectives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3317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2860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EDA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47472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35204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Feature Engineering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10972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46320" y="114300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1097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 &amp; Results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228600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233172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77840" y="22860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Recommendations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347472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35204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778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"Late deliveries increase costs, erode customer trust, and disrupt supply-chain performance — yet they are often identified too late to act."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22402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Cost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shipments trigger penalties, refunds, and emergency re-routing expenses that eat into margins.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22402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2331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😞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0" y="2971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Satisfaction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33832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reduce repeat purchase rates and damage brand reputation in competitive markets.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224028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2331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035040" y="2971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Disruption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33832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delays propagate across the chain, amplifying the original impact significantly.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5488" y="1243584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2435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143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Late Delivery Risk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48132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binary classification model to predict Late_delivery_risk before shipment completion, enabling proactive intervention.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" y="2203704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2037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103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Key Business Drivers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44144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the most influential features — shipping mode, scheduled days, transaction type — driving delivery delays.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84124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" y="3163824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063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Operational Decisions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40156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actionable risk scores to logistics teams for prioritizing high-risk shipments.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84124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" y="4123944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4123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4023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Multiple Approaches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436168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Logistic Regression, Random Forest, and Extra Trees to find the optimal balance of precision and recall.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180,519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76479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87168" y="1078992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87168" y="10972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87168" y="176479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08576" y="1078992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08576" y="10972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08576" y="176479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 Used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9984" y="1078992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29984" y="10972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29984" y="176479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 Used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423160"/>
            <a:ext cx="41148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4871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Features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816352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for Shipment (Scheduled)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Price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 Quantity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Profit Per Order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 Discount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 Discount Rate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 Total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per Order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423160"/>
            <a:ext cx="41148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24871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Features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816352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Mode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Region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Name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Name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Country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Country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Variable &amp; Class Distribution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Target: Late_delivery_risk (Binary: 0 = On Time, 1 = Late)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(1)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98,977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54.8%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50876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1554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Time (0)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1965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81,542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2514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45.2%</a:t>
            </a:r>
            <a:endParaRPr lang="en-US" sz="13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365760" y="2971800"/>
          <a:ext cx="841248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Numerical Feature Correlations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Late_delivery_risk target variable: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417320"/>
          <a:ext cx="84124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'Days for Shipment (Scheduled)' is the strongest numerical predictor (r = –0.37)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Shipping Mode vs. Late Delivery Risk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orders flagged as Late by Shipping Mode: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389888"/>
          <a:ext cx="84124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553712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45537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Class shipping has 95.3% late rate — the highest risk mode.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63440" y="4553712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54880" y="45537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 shipping is the safest: only 38.1% late rate.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Leakage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F4A261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1F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Critical Finding: 'Delivery Status' was identified as a direct data leakage source and excluded from all models.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Cross-tabulation: Delivery Status vs. Late_delivery_risk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76272"/>
          <a:ext cx="8412480" cy="21031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Delivery Status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On Time (0) 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Late (1) 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Late delivery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</a:rPr>
                        <a:t>0%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Perfect leakage — always late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Shipping on time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</a:rPr>
                        <a:t>0%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Perfect leakage — always on time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Advance shipping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</a:rPr>
                        <a:t>0%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Perfect leakage — always on time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Shipping canceled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Perfect leakage — always on time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4074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'Delivery Status' removed from the feature set. Only pre-shipment information retained.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1521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 Removal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50876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'Delivery Status' excluded — directly reveals outcome.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548640" cy="548640"/>
          </a:xfrm>
          <a:prstGeom prst="ellipse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1122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numerical + 9 categorical features selected based on EDA and domain knowledge.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84124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31546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0723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One-Hot Encoding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42900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variables encoded to 266 binary features using pd.get_dummies (drop_first=True).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84124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" y="4114800"/>
            <a:ext cx="548640" cy="548640"/>
          </a:xfrm>
          <a:prstGeom prst="ellipse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40325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Train-Test Split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438912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70/30 stratified split → 126,363 train | 54,156 test. Class ratios preserved.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617720"/>
            <a:ext cx="1965960" cy="41148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6177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  Encoded Features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87168" y="4617720"/>
            <a:ext cx="1965960" cy="41148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487168" y="46177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126,363  Training Samples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08576" y="4617720"/>
            <a:ext cx="1965960" cy="41148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08576" y="46177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54,156  Test Samples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29984" y="4617720"/>
            <a:ext cx="1965960" cy="41148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29984" y="46177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70/30  Split Ratio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Random Forest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Configuration: n_estimators=100, max_depth=6, class_weight='balanced'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1572768" cy="1325880"/>
          </a:xfrm>
          <a:prstGeom prst="roundRect">
            <a:avLst>
              <a:gd name="adj" fmla="val 6897"/>
            </a:avLst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481328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69.2%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223113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29968" y="1444752"/>
            <a:ext cx="1572768" cy="1325880"/>
          </a:xfrm>
          <a:prstGeom prst="roundRect">
            <a:avLst>
              <a:gd name="adj" fmla="val 689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29968" y="1481328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79.8%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029968" y="223113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39896" y="1444752"/>
            <a:ext cx="1572768" cy="1325880"/>
          </a:xfrm>
          <a:prstGeom prst="roundRect">
            <a:avLst>
              <a:gd name="adj" fmla="val 6897"/>
            </a:avLst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39896" y="1481328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58.8%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739896" y="223113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49824" y="1444752"/>
            <a:ext cx="1572768" cy="1325880"/>
          </a:xfrm>
          <a:prstGeom prst="roundRect">
            <a:avLst>
              <a:gd name="adj" fmla="val 689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49824" y="1481328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67.7%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449824" y="223113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59752" y="1444752"/>
            <a:ext cx="1572768" cy="1325880"/>
          </a:xfrm>
          <a:prstGeom prst="roundRect">
            <a:avLst>
              <a:gd name="adj" fmla="val 6897"/>
            </a:avLst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59752" y="1481328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72.6%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59752" y="223113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365760" y="2880360"/>
          <a:ext cx="841248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Predictors – Feature Importance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84124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Mode and Scheduled Days account for ~85% of predictive power combined.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– All Metrics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19202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Logistic Regression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69.6%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83.6%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55.4%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66.7%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74.2%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69.2%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79.7%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58.8%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67.7%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73.2%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Extra Trees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69.2%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79.7%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58.8%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67.7%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73.9%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090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 Comparison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3401568"/>
          <a:ext cx="841248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5-Fold Cross Validation Results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16916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 ROC-AUC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Std Dev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Stability Assessment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Logistic Regression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71.97%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± 0.0261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Acceptable variance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Extra Trees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70.04%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± 0.0242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</a:rPr>
                        <a:t>Stable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</a:rPr>
                        <a:t>69.86%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± 0.0254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Acceptable variance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852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 – Best Random Forest Configuration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3182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(n_iter=20, cv=3, scoring=roc_auc) → Best Parameters: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3547872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3547872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35478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400507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2487168" y="3547872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487168" y="3547872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487168" y="35478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487168" y="400507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12"/>
          <p:cNvSpPr/>
          <p:nvPr/>
        </p:nvSpPr>
        <p:spPr>
          <a:xfrm>
            <a:off x="4608576" y="3547872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608576" y="3547872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608576" y="35478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608576" y="400507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6729984" y="3547872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729984" y="3547872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729984" y="35478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min_samples_leaf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729984" y="400507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– Best Model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Tuned Random Forest | Test Set: 54,156 samples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146304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Negative (TN)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0195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~20,000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correctly identified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0" y="146304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B0B0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Positive (FP)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90195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4,020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029200" y="2514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predicted as Late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29184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B0B0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Negative (FN)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73075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12,502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14400" y="4343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predicted as On-time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329184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Positive (TP)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73075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17,191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029200" y="4343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correctly identified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892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On Time (0)   →   Predicted: Late (1)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 rot="16200000">
            <a:off x="0" y="1463040"/>
            <a:ext cx="868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On Time (0)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 rot="16200000">
            <a:off x="0" y="3291840"/>
            <a:ext cx="868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Late (1)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5488" y="12344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207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61872" y="118872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Mode is the #1 Driver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8587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Class shipments have a 95.3% late rate. Standard Class is at 62%. Operational teams should monitor and adjust shipping allocations proactively.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411480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10328" y="1234440"/>
            <a:ext cx="640080" cy="640080"/>
          </a:xfrm>
          <a:prstGeom prst="ellipse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10328" y="1207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96712" y="118872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Days Signal Risk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664208"/>
            <a:ext cx="38587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scheduled windows strongly correlate with delays (r = –0.37). Orders with tight schedules are paradoxically more likely to arrive on time.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11480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" y="3154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3127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61872" y="310896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Type Matters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38587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payment type shows a higher late rate vs. DEBIT/PAYMENT. This may indicate wholesale vs. retail order dynamics.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3017520"/>
            <a:ext cx="411480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10328" y="3154680"/>
            <a:ext cx="640080" cy="640080"/>
          </a:xfrm>
          <a:prstGeom prst="ellipse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10328" y="3127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96712" y="310896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&amp; Region Are Minor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584448"/>
            <a:ext cx="38587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markets show similar delay rates (54–55%). Geography alone is not a strong differentiator — logistics mode dominates.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Deployment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143000"/>
            <a:ext cx="1508760" cy="3474720"/>
          </a:xfrm>
          <a:prstGeom prst="roundRect">
            <a:avLst>
              <a:gd name="adj" fmla="val 606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26187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56032" y="190195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2487168"/>
            <a:ext cx="132588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WMS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records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64792" y="2880360"/>
            <a:ext cx="22860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93392" y="1143000"/>
            <a:ext cx="1508760" cy="3474720"/>
          </a:xfrm>
          <a:prstGeom prst="roundRect">
            <a:avLst>
              <a:gd name="adj" fmla="val 6061"/>
            </a:avLst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93392" y="126187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93392" y="190195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84832" y="2487168"/>
            <a:ext cx="132588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schedules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quality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02152" y="2880360"/>
            <a:ext cx="22860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30752" y="1143000"/>
            <a:ext cx="1508760" cy="3474720"/>
          </a:xfrm>
          <a:prstGeom prst="roundRect">
            <a:avLst>
              <a:gd name="adj" fmla="val 606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30752" y="126187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30752" y="190195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 API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22192" y="2487168"/>
            <a:ext cx="132588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RF model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probability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39512" y="2880360"/>
            <a:ext cx="22860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68112" y="1143000"/>
            <a:ext cx="1508760" cy="3474720"/>
          </a:xfrm>
          <a:prstGeom prst="roundRect">
            <a:avLst>
              <a:gd name="adj" fmla="val 6061"/>
            </a:avLst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68112" y="126187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68112" y="190195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59552" y="2487168"/>
            <a:ext cx="132588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probability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High/Med/Low flag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generation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76872" y="2880360"/>
            <a:ext cx="22860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205472" y="1143000"/>
            <a:ext cx="1508760" cy="3474720"/>
          </a:xfrm>
          <a:prstGeom prst="roundRect">
            <a:avLst>
              <a:gd name="adj" fmla="val 606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205472" y="126187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05472" y="190195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Dashboard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96912" y="2487168"/>
            <a:ext cx="132588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team view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actions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KPIs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retraining | Data drift monitoring | Model versioning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 &amp; Risk Mitigations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Early intervention on high-risk shipments before dispatch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2130552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13055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 Improved customer experience through proactive communication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843784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84378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Reduced penalty costs and emergency logistics spend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557016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55701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Better resource planning and carrier allocation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10241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Mitigations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41732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417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Drift: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model retraining on fresh data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130552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213055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rules at API level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843784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284378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Degradation: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monitoring dashboard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557016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355701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Bias: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audits across regions &amp; modes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Next Steps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33472" cy="384048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33472" cy="530352"/>
          </a:xfrm>
          <a:prstGeom prst="roundRect">
            <a:avLst>
              <a:gd name="adj" fmla="val 1724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664208"/>
            <a:ext cx="23774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tuned Random Forest as a decision-support scoring API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shipments with &gt;70% late probability for manual review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risk score into the existing WMS/ERP dashboard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18688" y="1097280"/>
            <a:ext cx="2633472" cy="384048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18688" y="1097280"/>
            <a:ext cx="2633472" cy="530352"/>
          </a:xfrm>
          <a:prstGeom prst="roundRect">
            <a:avLst>
              <a:gd name="adj" fmla="val 17241"/>
            </a:avLst>
          </a:prstGeom>
          <a:solidFill>
            <a:srgbClr val="1E2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18688" y="1097280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28416" y="1664208"/>
            <a:ext cx="23774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XGBoost and LightGBM for potential AUC gains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additional features: carrier lead time, seasonal effects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Precision-Recall optimized threshold (current: 0.5)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71616" y="1097280"/>
            <a:ext cx="2633472" cy="384048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71616" y="1097280"/>
            <a:ext cx="2633472" cy="530352"/>
          </a:xfrm>
          <a:prstGeom prst="roundRect">
            <a:avLst>
              <a:gd name="adj" fmla="val 17241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71616" y="1097280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81344" y="1664208"/>
            <a:ext cx="23774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automated retraining pipeline (monthly cadence)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dataset with real-time tracking and IoT sensor data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explainability layer (SHAP dashboard) for logistics ops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1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AF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36192"/>
            <a:ext cx="8412480" cy="566928"/>
          </a:xfrm>
          <a:prstGeom prst="roundRect">
            <a:avLst>
              <a:gd name="adj" fmla="val 1129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Machine learning can proactively identify late-delivery risk with 72–74% ROC-AUC, enabling logistics teams to act before delays occur.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8412480" cy="566928"/>
          </a:xfrm>
          <a:prstGeom prst="roundRect">
            <a:avLst>
              <a:gd name="adj" fmla="val 1129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Shipping Mode alone accounts for ~57% of predictive importance — a single operational lever with significant risk impact.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852928"/>
            <a:ext cx="8412480" cy="566928"/>
          </a:xfrm>
          <a:prstGeom prst="roundRect">
            <a:avLst>
              <a:gd name="adj" fmla="val 1129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852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All three models (LR, RF, Extra Trees) perform comparably, with Logistic Regression marginally leading on ROC-AUC (0.742).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511296"/>
            <a:ext cx="8412480" cy="566928"/>
          </a:xfrm>
          <a:prstGeom prst="roundRect">
            <a:avLst>
              <a:gd name="adj" fmla="val 1129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5112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SHAP analysis confirms that Scheduled Days and Shipping Mode dominate, with financial metrics having minimal predictive value.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4169664"/>
            <a:ext cx="8412480" cy="566928"/>
          </a:xfrm>
          <a:prstGeom prst="roundRect">
            <a:avLst>
              <a:gd name="adj" fmla="val 11290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1696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model is deployment-ready as a real-time risk scoring API with a clear roadmap for continuous improvement.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San Diego  |  AAI-510  |  Group 4  |  Dhrub Satyam  |  George David Asirvatharaj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1415</Words>
  <Application>Microsoft Macintosh PowerPoint</Application>
  <PresentationFormat>On-screen Show (16:9)</PresentationFormat>
  <Paragraphs>309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Late Delivery Prediction - AAI-510</dc:title>
  <dc:subject>PptxGenJS Presentation</dc:subject>
  <dc:creator>Group 4</dc:creator>
  <cp:lastModifiedBy>Dhrub Satyam</cp:lastModifiedBy>
  <cp:revision>2</cp:revision>
  <dcterms:created xsi:type="dcterms:W3CDTF">2026-06-15T03:18:53Z</dcterms:created>
  <dcterms:modified xsi:type="dcterms:W3CDTF">2026-06-15T03:33:03Z</dcterms:modified>
</cp:coreProperties>
</file>